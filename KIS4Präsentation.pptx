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82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AT"/>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3D1B67-DA8E-4F41-877A-5AA36DEA165A}" type="datetimeFigureOut">
              <a:rPr lang="de-AT" smtClean="0"/>
              <a:t>20.06.2026</a:t>
            </a:fld>
            <a:endParaRPr lang="de-AT"/>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AT"/>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BD0F4C-EBBB-4E22-A140-CE73396DFD09}" type="slidenum">
              <a:rPr lang="de-AT" smtClean="0"/>
              <a:t>‹Nr.›</a:t>
            </a:fld>
            <a:endParaRPr lang="de-AT"/>
          </a:p>
        </p:txBody>
      </p:sp>
    </p:spTree>
    <p:extLst>
      <p:ext uri="{BB962C8B-B14F-4D97-AF65-F5344CB8AC3E}">
        <p14:creationId xmlns:p14="http://schemas.microsoft.com/office/powerpoint/2010/main" val="3868501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AT" dirty="0"/>
              <a:t>Man kann in </a:t>
            </a:r>
            <a:r>
              <a:rPr lang="de-AT" dirty="0" err="1"/>
              <a:t>Jupyter</a:t>
            </a:r>
            <a:r>
              <a:rPr lang="de-AT" dirty="0"/>
              <a:t> Zelle 3 ausführen, dann Zelle 1, dann Zelle 5. Die Variablen bleiben im Arbeitsspeicher. Wenn man das Notebook speichert und jemand anderes es von oben nach unten ausführt, stürzt es oft ab, weil die Reihenfolge nicht mehr stimmt</a:t>
            </a:r>
          </a:p>
        </p:txBody>
      </p:sp>
      <p:sp>
        <p:nvSpPr>
          <p:cNvPr id="4" name="Foliennummernplatzhalter 3"/>
          <p:cNvSpPr>
            <a:spLocks noGrp="1"/>
          </p:cNvSpPr>
          <p:nvPr>
            <p:ph type="sldNum" sz="quarter" idx="5"/>
          </p:nvPr>
        </p:nvSpPr>
        <p:spPr/>
        <p:txBody>
          <a:bodyPr/>
          <a:lstStyle/>
          <a:p>
            <a:fld id="{68BD0F4C-EBBB-4E22-A140-CE73396DFD09}" type="slidenum">
              <a:rPr lang="de-AT" smtClean="0"/>
              <a:t>2</a:t>
            </a:fld>
            <a:endParaRPr lang="de-AT"/>
          </a:p>
        </p:txBody>
      </p:sp>
    </p:spTree>
    <p:extLst>
      <p:ext uri="{BB962C8B-B14F-4D97-AF65-F5344CB8AC3E}">
        <p14:creationId xmlns:p14="http://schemas.microsoft.com/office/powerpoint/2010/main" val="1400020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AT" dirty="0"/>
              <a:t>Marimo zwingt dich zu sauberen Abhängigkeiten. Eine Zelle läuft nur, wenn die Variablen, die sie braucht, vorher von einer anderen Zelle bereitgestellt wurden.</a:t>
            </a:r>
          </a:p>
        </p:txBody>
      </p:sp>
      <p:sp>
        <p:nvSpPr>
          <p:cNvPr id="4" name="Foliennummernplatzhalter 3"/>
          <p:cNvSpPr>
            <a:spLocks noGrp="1"/>
          </p:cNvSpPr>
          <p:nvPr>
            <p:ph type="sldNum" sz="quarter" idx="5"/>
          </p:nvPr>
        </p:nvSpPr>
        <p:spPr/>
        <p:txBody>
          <a:bodyPr/>
          <a:lstStyle/>
          <a:p>
            <a:fld id="{68BD0F4C-EBBB-4E22-A140-CE73396DFD09}" type="slidenum">
              <a:rPr lang="de-AT" smtClean="0"/>
              <a:t>3</a:t>
            </a:fld>
            <a:endParaRPr lang="de-AT"/>
          </a:p>
        </p:txBody>
      </p:sp>
    </p:spTree>
    <p:extLst>
      <p:ext uri="{BB962C8B-B14F-4D97-AF65-F5344CB8AC3E}">
        <p14:creationId xmlns:p14="http://schemas.microsoft.com/office/powerpoint/2010/main" val="6415016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de-DE"/>
              <a:t>Mastertitelformat bearbeiten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8C1E1FAD-7351-4908-963A-08EA8E4AB7A0}" type="datetimeFigureOut">
              <a:rPr lang="en-US" smtClean="0"/>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F2D47E-0AF1-4C27-801F-64E3E5BF7F72}" type="slidenum">
              <a:rPr lang="en-US" smtClean="0"/>
              <a:t>‹Nr.›</a:t>
            </a:fld>
            <a:endParaRPr lang="en-US"/>
          </a:p>
        </p:txBody>
      </p:sp>
    </p:spTree>
    <p:extLst>
      <p:ext uri="{BB962C8B-B14F-4D97-AF65-F5344CB8AC3E}">
        <p14:creationId xmlns:p14="http://schemas.microsoft.com/office/powerpoint/2010/main" val="4099480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3"/>
          <p:cNvSpPr>
            <a:spLocks noGrp="1"/>
          </p:cNvSpPr>
          <p:nvPr>
            <p:ph type="dt" sz="half" idx="10"/>
          </p:nvPr>
        </p:nvSpPr>
        <p:spPr/>
        <p:txBody>
          <a:bodyPr/>
          <a:lstStyle/>
          <a:p>
            <a:fld id="{8C1E1FAD-7351-4908-963A-08EA8E4AB7A0}" type="datetimeFigureOut">
              <a:rPr lang="en-US" smtClean="0"/>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F2D47E-0AF1-4C27-801F-64E3E5BF7F72}" type="slidenum">
              <a:rPr lang="en-US" smtClean="0"/>
              <a:t>‹Nr.›</a:t>
            </a:fld>
            <a:endParaRPr lang="en-US"/>
          </a:p>
        </p:txBody>
      </p:sp>
    </p:spTree>
    <p:extLst>
      <p:ext uri="{BB962C8B-B14F-4D97-AF65-F5344CB8AC3E}">
        <p14:creationId xmlns:p14="http://schemas.microsoft.com/office/powerpoint/2010/main" val="1657415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de-DE"/>
              <a:t>Mastertitelformat bearbeiten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8C1E1FAD-7351-4908-963A-08EA8E4AB7A0}" type="datetimeFigureOut">
              <a:rPr lang="en-US" smtClean="0"/>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F2D47E-0AF1-4C27-801F-64E3E5BF7F72}" type="slidenum">
              <a:rPr lang="en-US" smtClean="0"/>
              <a:t>‹Nr.›</a:t>
            </a:fld>
            <a:endParaRPr lang="en-US"/>
          </a:p>
        </p:txBody>
      </p:sp>
    </p:spTree>
    <p:extLst>
      <p:ext uri="{BB962C8B-B14F-4D97-AF65-F5344CB8AC3E}">
        <p14:creationId xmlns:p14="http://schemas.microsoft.com/office/powerpoint/2010/main" val="1936621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8C1E1FAD-7351-4908-963A-08EA8E4AB7A0}" type="datetimeFigureOut">
              <a:rPr lang="en-US" smtClean="0"/>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F2D47E-0AF1-4C27-801F-64E3E5BF7F72}" type="slidenum">
              <a:rPr lang="en-US" smtClean="0"/>
              <a:t>‹Nr.›</a:t>
            </a:fld>
            <a:endParaRPr lang="en-US"/>
          </a:p>
        </p:txBody>
      </p:sp>
    </p:spTree>
    <p:extLst>
      <p:ext uri="{BB962C8B-B14F-4D97-AF65-F5344CB8AC3E}">
        <p14:creationId xmlns:p14="http://schemas.microsoft.com/office/powerpoint/2010/main" val="913878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de-DE"/>
              <a:t>Mastertitelformat bearbeiten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8C1E1FAD-7351-4908-963A-08EA8E4AB7A0}" type="datetimeFigureOut">
              <a:rPr lang="en-US" smtClean="0"/>
              <a:t>6/20/2026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CF2D47E-0AF1-4C27-801F-64E3E5BF7F72}" type="slidenum">
              <a:rPr lang="en-US" smtClean="0"/>
              <a:t>‹Nr.›</a:t>
            </a:fld>
            <a:endParaRPr lang="en-US"/>
          </a:p>
        </p:txBody>
      </p:sp>
    </p:spTree>
    <p:extLst>
      <p:ext uri="{BB962C8B-B14F-4D97-AF65-F5344CB8AC3E}">
        <p14:creationId xmlns:p14="http://schemas.microsoft.com/office/powerpoint/2010/main" val="1709500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7" name="Date Placeholder 2"/>
          <p:cNvSpPr>
            <a:spLocks noGrp="1"/>
          </p:cNvSpPr>
          <p:nvPr>
            <p:ph type="dt" sz="half" idx="10"/>
          </p:nvPr>
        </p:nvSpPr>
        <p:spPr/>
        <p:txBody>
          <a:bodyPr/>
          <a:lstStyle/>
          <a:p>
            <a:fld id="{8C1E1FAD-7351-4908-963A-08EA8E4AB7A0}" type="datetimeFigureOut">
              <a:rPr lang="en-US" smtClean="0"/>
              <a:t>6/20/2026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1CF2D47E-0AF1-4C27-801F-64E3E5BF7F72}" type="slidenum">
              <a:rPr lang="en-US" smtClean="0"/>
              <a:t>‹Nr.›</a:t>
            </a:fld>
            <a:endParaRPr lang="en-US"/>
          </a:p>
        </p:txBody>
      </p:sp>
    </p:spTree>
    <p:extLst>
      <p:ext uri="{BB962C8B-B14F-4D97-AF65-F5344CB8AC3E}">
        <p14:creationId xmlns:p14="http://schemas.microsoft.com/office/powerpoint/2010/main" val="3643034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C1E1FAD-7351-4908-963A-08EA8E4AB7A0}" type="datetimeFigureOut">
              <a:rPr lang="en-US" smtClean="0"/>
              <a:t>6/20/2026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1CF2D47E-0AF1-4C27-801F-64E3E5BF7F72}" type="slidenum">
              <a:rPr lang="en-US" smtClean="0"/>
              <a:t>‹Nr.›</a:t>
            </a:fld>
            <a:endParaRPr lang="en-US"/>
          </a:p>
        </p:txBody>
      </p:sp>
    </p:spTree>
    <p:extLst>
      <p:ext uri="{BB962C8B-B14F-4D97-AF65-F5344CB8AC3E}">
        <p14:creationId xmlns:p14="http://schemas.microsoft.com/office/powerpoint/2010/main" val="4183113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de-DE"/>
              <a:t>Mastertitelformat bearbeiten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7" name="Date Placeholder 4"/>
          <p:cNvSpPr>
            <a:spLocks noGrp="1"/>
          </p:cNvSpPr>
          <p:nvPr>
            <p:ph type="dt" sz="half" idx="10"/>
          </p:nvPr>
        </p:nvSpPr>
        <p:spPr/>
        <p:txBody>
          <a:bodyPr/>
          <a:lstStyle/>
          <a:p>
            <a:fld id="{8C1E1FAD-7351-4908-963A-08EA8E4AB7A0}" type="datetimeFigureOut">
              <a:rPr lang="en-US" smtClean="0"/>
              <a:t>6/20/2026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1CF2D47E-0AF1-4C27-801F-64E3E5BF7F72}" type="slidenum">
              <a:rPr lang="en-US" smtClean="0"/>
              <a:t>‹Nr.›</a:t>
            </a:fld>
            <a:endParaRPr lang="en-US"/>
          </a:p>
        </p:txBody>
      </p:sp>
    </p:spTree>
    <p:extLst>
      <p:ext uri="{BB962C8B-B14F-4D97-AF65-F5344CB8AC3E}">
        <p14:creationId xmlns:p14="http://schemas.microsoft.com/office/powerpoint/2010/main" val="1010468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de-DE"/>
              <a:t>Mastertitelformat bearbeiten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e-DE"/>
              <a:t>Bild durch Klicken auf Symbol hinzufügen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Date Placeholder 4"/>
          <p:cNvSpPr>
            <a:spLocks noGrp="1"/>
          </p:cNvSpPr>
          <p:nvPr>
            <p:ph type="dt" sz="half" idx="10"/>
          </p:nvPr>
        </p:nvSpPr>
        <p:spPr/>
        <p:txBody>
          <a:bodyPr/>
          <a:lstStyle/>
          <a:p>
            <a:fld id="{8C1E1FAD-7351-4908-963A-08EA8E4AB7A0}" type="datetimeFigureOut">
              <a:rPr lang="en-US" smtClean="0"/>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F2D47E-0AF1-4C27-801F-64E3E5BF7F72}" type="slidenum">
              <a:rPr lang="en-US" smtClean="0"/>
              <a:t>‹Nr.›</a:t>
            </a:fld>
            <a:endParaRPr lang="en-US"/>
          </a:p>
        </p:txBody>
      </p:sp>
    </p:spTree>
    <p:extLst>
      <p:ext uri="{BB962C8B-B14F-4D97-AF65-F5344CB8AC3E}">
        <p14:creationId xmlns:p14="http://schemas.microsoft.com/office/powerpoint/2010/main" val="54584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abild mit Beschriftung">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de-DE"/>
              <a:t>Mastertitelformat bearbeiten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e-DE"/>
              <a:t>Bild durch Klicken auf Symbol hinzufügen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Date Placeholder 4"/>
          <p:cNvSpPr>
            <a:spLocks noGrp="1"/>
          </p:cNvSpPr>
          <p:nvPr>
            <p:ph type="dt" sz="half" idx="10"/>
          </p:nvPr>
        </p:nvSpPr>
        <p:spPr/>
        <p:txBody>
          <a:bodyPr/>
          <a:lstStyle/>
          <a:p>
            <a:fld id="{8C1E1FAD-7351-4908-963A-08EA8E4AB7A0}" type="datetimeFigureOut">
              <a:rPr lang="en-US" smtClean="0"/>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F2D47E-0AF1-4C27-801F-64E3E5BF7F72}" type="slidenum">
              <a:rPr lang="en-US" smtClean="0"/>
              <a:t>‹Nr.›</a:t>
            </a:fld>
            <a:endParaRPr lang="en-US"/>
          </a:p>
        </p:txBody>
      </p:sp>
    </p:spTree>
    <p:extLst>
      <p:ext uri="{BB962C8B-B14F-4D97-AF65-F5344CB8AC3E}">
        <p14:creationId xmlns:p14="http://schemas.microsoft.com/office/powerpoint/2010/main" val="1758073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el und Beschriftung">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de-DE"/>
              <a:t>Mastertitelformat bearbeiten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4" name="Date Placeholder 3"/>
          <p:cNvSpPr>
            <a:spLocks noGrp="1"/>
          </p:cNvSpPr>
          <p:nvPr>
            <p:ph type="dt" sz="half" idx="10"/>
          </p:nvPr>
        </p:nvSpPr>
        <p:spPr/>
        <p:txBody>
          <a:bodyPr/>
          <a:lstStyle/>
          <a:p>
            <a:fld id="{8C1E1FAD-7351-4908-963A-08EA8E4AB7A0}" type="datetimeFigureOut">
              <a:rPr lang="en-US" smtClean="0"/>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F2D47E-0AF1-4C27-801F-64E3E5BF7F72}" type="slidenum">
              <a:rPr lang="en-US" smtClean="0"/>
              <a:t>‹Nr.›</a:t>
            </a:fld>
            <a:endParaRPr lang="en-US"/>
          </a:p>
        </p:txBody>
      </p:sp>
    </p:spTree>
    <p:extLst>
      <p:ext uri="{BB962C8B-B14F-4D97-AF65-F5344CB8AC3E}">
        <p14:creationId xmlns:p14="http://schemas.microsoft.com/office/powerpoint/2010/main" val="5150723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Zitat mit Beschriftung">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de-DE"/>
              <a:t>Mastertitelformat bearbeiten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de-DE"/>
              <a:t>Mastertextformat bearbeiten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4" name="Date Placeholder 3"/>
          <p:cNvSpPr>
            <a:spLocks noGrp="1"/>
          </p:cNvSpPr>
          <p:nvPr>
            <p:ph type="dt" sz="half" idx="10"/>
          </p:nvPr>
        </p:nvSpPr>
        <p:spPr/>
        <p:txBody>
          <a:bodyPr/>
          <a:lstStyle/>
          <a:p>
            <a:fld id="{8C1E1FAD-7351-4908-963A-08EA8E4AB7A0}" type="datetimeFigureOut">
              <a:rPr lang="en-US" smtClean="0"/>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F2D47E-0AF1-4C27-801F-64E3E5BF7F72}" type="slidenum">
              <a:rPr lang="en-US" smtClean="0"/>
              <a:t>‹Nr.›</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756333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nskart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de-DE"/>
              <a:t>Mastertitelformat bearbeiten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8C1E1FAD-7351-4908-963A-08EA8E4AB7A0}" type="datetimeFigureOut">
              <a:rPr lang="en-US" smtClean="0"/>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F2D47E-0AF1-4C27-801F-64E3E5BF7F72}" type="slidenum">
              <a:rPr lang="en-US" smtClean="0"/>
              <a:t>‹Nr.›</a:t>
            </a:fld>
            <a:endParaRPr lang="en-US"/>
          </a:p>
        </p:txBody>
      </p:sp>
    </p:spTree>
    <p:extLst>
      <p:ext uri="{BB962C8B-B14F-4D97-AF65-F5344CB8AC3E}">
        <p14:creationId xmlns:p14="http://schemas.microsoft.com/office/powerpoint/2010/main" val="824819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p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de-DE"/>
              <a:t>Mastertitelformat bearbeiten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C1E1FAD-7351-4908-963A-08EA8E4AB7A0}" type="datetimeFigureOut">
              <a:rPr lang="en-US" smtClean="0"/>
              <a:t>6/20/2026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F2D47E-0AF1-4C27-801F-64E3E5BF7F72}" type="slidenum">
              <a:rPr lang="en-US" smtClean="0"/>
              <a:t>‹Nr.›</a:t>
            </a:fld>
            <a:endParaRPr lang="en-US"/>
          </a:p>
        </p:txBody>
      </p:sp>
    </p:spTree>
    <p:extLst>
      <p:ext uri="{BB962C8B-B14F-4D97-AF65-F5344CB8AC3E}">
        <p14:creationId xmlns:p14="http://schemas.microsoft.com/office/powerpoint/2010/main" val="42558244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Bildsp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de-DE"/>
              <a:t>Mastertitelformat bearbeiten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e-DE"/>
              <a:t>Bild durch Klicken auf Symbol hinzufügen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e-DE"/>
              <a:t>Bild durch Klicken auf Symbol hinzufügen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e-DE"/>
              <a:t>Bild durch Klicken auf Symbol hinzufügen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C1E1FAD-7351-4908-963A-08EA8E4AB7A0}" type="datetimeFigureOut">
              <a:rPr lang="en-US" smtClean="0"/>
              <a:t>6/20/2026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F2D47E-0AF1-4C27-801F-64E3E5BF7F72}" type="slidenum">
              <a:rPr lang="en-US" smtClean="0"/>
              <a:t>‹Nr.›</a:t>
            </a:fld>
            <a:endParaRPr lang="en-US"/>
          </a:p>
        </p:txBody>
      </p:sp>
    </p:spTree>
    <p:extLst>
      <p:ext uri="{BB962C8B-B14F-4D97-AF65-F5344CB8AC3E}">
        <p14:creationId xmlns:p14="http://schemas.microsoft.com/office/powerpoint/2010/main" val="14734747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nchor="t" anchorCtr="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8C1E1FAD-7351-4908-963A-08EA8E4AB7A0}" type="datetimeFigureOut">
              <a:rPr lang="en-US" smtClean="0"/>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F2D47E-0AF1-4C27-801F-64E3E5BF7F72}" type="slidenum">
              <a:rPr lang="en-US" smtClean="0"/>
              <a:t>‹Nr.›</a:t>
            </a:fld>
            <a:endParaRPr lang="en-US"/>
          </a:p>
        </p:txBody>
      </p:sp>
    </p:spTree>
    <p:extLst>
      <p:ext uri="{BB962C8B-B14F-4D97-AF65-F5344CB8AC3E}">
        <p14:creationId xmlns:p14="http://schemas.microsoft.com/office/powerpoint/2010/main" val="9796576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de-DE"/>
              <a:t>Mastertitelformat bearbeiten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8C1E1FAD-7351-4908-963A-08EA8E4AB7A0}" type="datetimeFigureOut">
              <a:rPr lang="en-US" smtClean="0"/>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F2D47E-0AF1-4C27-801F-64E3E5BF7F72}" type="slidenum">
              <a:rPr lang="en-US" smtClean="0"/>
              <a:t>‹Nr.›</a:t>
            </a:fld>
            <a:endParaRPr lang="en-US"/>
          </a:p>
        </p:txBody>
      </p:sp>
    </p:spTree>
    <p:extLst>
      <p:ext uri="{BB962C8B-B14F-4D97-AF65-F5344CB8AC3E}">
        <p14:creationId xmlns:p14="http://schemas.microsoft.com/office/powerpoint/2010/main" val="3312847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de-AT"/>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de-AT"/>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de-DE"/>
              <a:t>Mastertitelformat bearbeiten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C1E1FAD-7351-4908-963A-08EA8E4AB7A0}" type="datetimeFigureOut">
              <a:rPr lang="en-US" smtClean="0"/>
              <a:t>6/20/2026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CF2D47E-0AF1-4C27-801F-64E3E5BF7F72}" type="slidenum">
              <a:rPr lang="en-US" smtClean="0"/>
              <a:t>‹Nr.›</a:t>
            </a:fld>
            <a:endParaRPr lang="en-US"/>
          </a:p>
        </p:txBody>
      </p:sp>
    </p:spTree>
    <p:extLst>
      <p:ext uri="{BB962C8B-B14F-4D97-AF65-F5344CB8AC3E}">
        <p14:creationId xmlns:p14="http://schemas.microsoft.com/office/powerpoint/2010/main" val="4185176074"/>
      </p:ext>
    </p:extLst>
  </p:cSld>
  <p:clrMap bg1="dk1" tx1="lt1" bg2="dk2" tx2="lt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C9ABB39-88BE-D644-47F9-A2A30E7D92F1}"/>
              </a:ext>
            </a:extLst>
          </p:cNvPr>
          <p:cNvPicPr>
            <a:picLocks noChangeAspect="1"/>
          </p:cNvPicPr>
          <p:nvPr/>
        </p:nvPicPr>
        <p:blipFill>
          <a:blip r:embed="rId2">
            <a:alphaModFix amt="84000"/>
          </a:blip>
          <a:srcRect t="17763" b="25987"/>
          <a:stretch>
            <a:fillRect/>
          </a:stretch>
        </p:blipFill>
        <p:spPr>
          <a:xfrm>
            <a:off x="20" y="10"/>
            <a:ext cx="12191980" cy="6857990"/>
          </a:xfrm>
          <a:prstGeom prst="rect">
            <a:avLst/>
          </a:prstGeom>
        </p:spPr>
      </p:pic>
      <p:sp>
        <p:nvSpPr>
          <p:cNvPr id="2" name="Titel 1">
            <a:extLst>
              <a:ext uri="{FF2B5EF4-FFF2-40B4-BE49-F238E27FC236}">
                <a16:creationId xmlns:a16="http://schemas.microsoft.com/office/drawing/2014/main" id="{60DB862C-F9AB-EF39-23F3-CBD57E3F1EE3}"/>
              </a:ext>
            </a:extLst>
          </p:cNvPr>
          <p:cNvSpPr>
            <a:spLocks noGrp="1"/>
          </p:cNvSpPr>
          <p:nvPr>
            <p:ph type="ctrTitle"/>
          </p:nvPr>
        </p:nvSpPr>
        <p:spPr>
          <a:xfrm>
            <a:off x="842356" y="853440"/>
            <a:ext cx="4063873" cy="1569719"/>
          </a:xfrm>
        </p:spPr>
        <p:txBody>
          <a:bodyPr anchor="t">
            <a:normAutofit/>
          </a:bodyPr>
          <a:lstStyle/>
          <a:p>
            <a:r>
              <a:rPr lang="de-AT" sz="3200"/>
              <a:t>Jupyter2Marimo</a:t>
            </a:r>
            <a:br>
              <a:rPr lang="de-AT" sz="3200"/>
            </a:br>
            <a:r>
              <a:rPr lang="de-AT" sz="3200"/>
              <a:t>Converter</a:t>
            </a:r>
          </a:p>
        </p:txBody>
      </p:sp>
      <p:sp>
        <p:nvSpPr>
          <p:cNvPr id="3" name="Untertitel 2">
            <a:extLst>
              <a:ext uri="{FF2B5EF4-FFF2-40B4-BE49-F238E27FC236}">
                <a16:creationId xmlns:a16="http://schemas.microsoft.com/office/drawing/2014/main" id="{A8711CAC-A12A-9506-C0C7-C1788D09E66C}"/>
              </a:ext>
            </a:extLst>
          </p:cNvPr>
          <p:cNvSpPr>
            <a:spLocks noGrp="1"/>
          </p:cNvSpPr>
          <p:nvPr>
            <p:ph type="subTitle" idx="1"/>
          </p:nvPr>
        </p:nvSpPr>
        <p:spPr>
          <a:xfrm>
            <a:off x="842355" y="2423160"/>
            <a:ext cx="4063874" cy="1569718"/>
          </a:xfrm>
        </p:spPr>
        <p:txBody>
          <a:bodyPr>
            <a:normAutofit/>
          </a:bodyPr>
          <a:lstStyle/>
          <a:p>
            <a:r>
              <a:rPr lang="de-AT" dirty="0" err="1">
                <a:solidFill>
                  <a:srgbClr val="FFFFFF"/>
                </a:solidFill>
              </a:rPr>
              <a:t>For</a:t>
            </a:r>
            <a:r>
              <a:rPr lang="de-AT" dirty="0">
                <a:solidFill>
                  <a:srgbClr val="FFFFFF"/>
                </a:solidFill>
              </a:rPr>
              <a:t> KIS4</a:t>
            </a:r>
          </a:p>
          <a:p>
            <a:endParaRPr lang="de-AT" dirty="0">
              <a:solidFill>
                <a:srgbClr val="FFFFFF"/>
              </a:solidFill>
            </a:endParaRPr>
          </a:p>
          <a:p>
            <a:r>
              <a:rPr lang="de-AT" dirty="0">
                <a:solidFill>
                  <a:srgbClr val="FFFFFF"/>
                </a:solidFill>
              </a:rPr>
              <a:t>By Jennifer Schimani &amp; Daniel Brandstätter</a:t>
            </a:r>
          </a:p>
        </p:txBody>
      </p:sp>
    </p:spTree>
    <p:extLst>
      <p:ext uri="{BB962C8B-B14F-4D97-AF65-F5344CB8AC3E}">
        <p14:creationId xmlns:p14="http://schemas.microsoft.com/office/powerpoint/2010/main" val="4206135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0E13702D-1F97-2FA9-D1FB-BC88F10ED9CD}"/>
              </a:ext>
            </a:extLst>
          </p:cNvPr>
          <p:cNvSpPr>
            <a:spLocks noGrp="1"/>
          </p:cNvSpPr>
          <p:nvPr>
            <p:ph type="title"/>
          </p:nvPr>
        </p:nvSpPr>
        <p:spPr>
          <a:xfrm>
            <a:off x="648931" y="629266"/>
            <a:ext cx="4166510" cy="1622321"/>
          </a:xfrm>
        </p:spPr>
        <p:txBody>
          <a:bodyPr>
            <a:normAutofit/>
          </a:bodyPr>
          <a:lstStyle/>
          <a:p>
            <a:r>
              <a:rPr lang="de-AT">
                <a:solidFill>
                  <a:srgbClr val="EBEBEB"/>
                </a:solidFill>
              </a:rPr>
              <a:t>Motivation</a:t>
            </a:r>
          </a:p>
        </p:txBody>
      </p:sp>
      <p:sp>
        <p:nvSpPr>
          <p:cNvPr id="12"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4" name="Freeform: Shape 13">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de-AT"/>
          </a:p>
        </p:txBody>
      </p:sp>
      <p:pic>
        <p:nvPicPr>
          <p:cNvPr id="5" name="Grafik 4">
            <a:extLst>
              <a:ext uri="{FF2B5EF4-FFF2-40B4-BE49-F238E27FC236}">
                <a16:creationId xmlns:a16="http://schemas.microsoft.com/office/drawing/2014/main" id="{7368BF63-896C-8440-30B2-0DCE1FB45F99}"/>
              </a:ext>
            </a:extLst>
          </p:cNvPr>
          <p:cNvPicPr>
            <a:picLocks noChangeAspect="1"/>
          </p:cNvPicPr>
          <p:nvPr/>
        </p:nvPicPr>
        <p:blipFill>
          <a:blip r:embed="rId3"/>
          <a:stretch>
            <a:fillRect/>
          </a:stretch>
        </p:blipFill>
        <p:spPr>
          <a:xfrm>
            <a:off x="6115115" y="3607804"/>
            <a:ext cx="5449889" cy="1893836"/>
          </a:xfrm>
          <a:prstGeom prst="rect">
            <a:avLst/>
          </a:prstGeom>
          <a:effectLst/>
        </p:spPr>
      </p:pic>
      <p:sp>
        <p:nvSpPr>
          <p:cNvPr id="16" name="Rectangle 15">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de-AT"/>
          </a:p>
        </p:txBody>
      </p:sp>
      <p:sp>
        <p:nvSpPr>
          <p:cNvPr id="3" name="Inhaltsplatzhalter 2">
            <a:extLst>
              <a:ext uri="{FF2B5EF4-FFF2-40B4-BE49-F238E27FC236}">
                <a16:creationId xmlns:a16="http://schemas.microsoft.com/office/drawing/2014/main" id="{2B3B2328-D670-8DBF-4D5D-9CC6B2CBD7E9}"/>
              </a:ext>
            </a:extLst>
          </p:cNvPr>
          <p:cNvSpPr>
            <a:spLocks noGrp="1"/>
          </p:cNvSpPr>
          <p:nvPr>
            <p:ph idx="1"/>
          </p:nvPr>
        </p:nvSpPr>
        <p:spPr>
          <a:xfrm>
            <a:off x="648931" y="2438400"/>
            <a:ext cx="4166509" cy="3785419"/>
          </a:xfrm>
        </p:spPr>
        <p:txBody>
          <a:bodyPr>
            <a:normAutofit/>
          </a:bodyPr>
          <a:lstStyle/>
          <a:p>
            <a:r>
              <a:rPr lang="de-AT" baseline="-25000">
                <a:solidFill>
                  <a:srgbClr val="EBEBEB"/>
                </a:solidFill>
              </a:rPr>
              <a:t>Jupyter Notebooks extrem beliebt</a:t>
            </a:r>
          </a:p>
          <a:p>
            <a:endParaRPr lang="de-AT" baseline="-25000">
              <a:solidFill>
                <a:srgbClr val="EBEBEB"/>
              </a:solidFill>
            </a:endParaRPr>
          </a:p>
          <a:p>
            <a:r>
              <a:rPr lang="de-AT" baseline="-25000">
                <a:solidFill>
                  <a:srgbClr val="EBEBEB"/>
                </a:solidFill>
              </a:rPr>
              <a:t>Problem: Hidden State</a:t>
            </a:r>
          </a:p>
          <a:p>
            <a:endParaRPr lang="de-AT" baseline="-25000">
              <a:solidFill>
                <a:srgbClr val="EBEBEB"/>
              </a:solidFill>
            </a:endParaRPr>
          </a:p>
          <a:p>
            <a:r>
              <a:rPr lang="de-AT" baseline="-25000">
                <a:solidFill>
                  <a:srgbClr val="EBEBEB"/>
                </a:solidFill>
              </a:rPr>
              <a:t>Jupyter hat „Magic Commands“ (z.B. %timeit, !pip install)</a:t>
            </a:r>
          </a:p>
          <a:p>
            <a:endParaRPr lang="de-AT" baseline="-25000">
              <a:solidFill>
                <a:srgbClr val="EBEBEB"/>
              </a:solidFill>
            </a:endParaRPr>
          </a:p>
          <a:p>
            <a:endParaRPr lang="de-AT" baseline="-25000">
              <a:solidFill>
                <a:srgbClr val="EBEBEB"/>
              </a:solidFill>
            </a:endParaRPr>
          </a:p>
        </p:txBody>
      </p:sp>
      <p:pic>
        <p:nvPicPr>
          <p:cNvPr id="7" name="Grafik 6">
            <a:extLst>
              <a:ext uri="{FF2B5EF4-FFF2-40B4-BE49-F238E27FC236}">
                <a16:creationId xmlns:a16="http://schemas.microsoft.com/office/drawing/2014/main" id="{4D5CBFD9-3F92-0021-595D-132CFE2DF303}"/>
              </a:ext>
            </a:extLst>
          </p:cNvPr>
          <p:cNvPicPr>
            <a:picLocks noChangeAspect="1"/>
          </p:cNvPicPr>
          <p:nvPr/>
        </p:nvPicPr>
        <p:blipFill>
          <a:blip r:embed="rId4"/>
          <a:stretch>
            <a:fillRect/>
          </a:stretch>
        </p:blipFill>
        <p:spPr>
          <a:xfrm>
            <a:off x="6672890" y="2438400"/>
            <a:ext cx="3810000" cy="400050"/>
          </a:xfrm>
          <a:prstGeom prst="rect">
            <a:avLst/>
          </a:prstGeom>
        </p:spPr>
      </p:pic>
    </p:spTree>
    <p:extLst>
      <p:ext uri="{BB962C8B-B14F-4D97-AF65-F5344CB8AC3E}">
        <p14:creationId xmlns:p14="http://schemas.microsoft.com/office/powerpoint/2010/main" val="1725273100"/>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BF582C11-3591-73EC-5D54-01EB612D5AD5}"/>
              </a:ext>
            </a:extLst>
          </p:cNvPr>
          <p:cNvSpPr>
            <a:spLocks noGrp="1"/>
          </p:cNvSpPr>
          <p:nvPr>
            <p:ph type="title"/>
          </p:nvPr>
        </p:nvSpPr>
        <p:spPr>
          <a:xfrm>
            <a:off x="648931" y="629266"/>
            <a:ext cx="4166510" cy="1622321"/>
          </a:xfrm>
        </p:spPr>
        <p:txBody>
          <a:bodyPr>
            <a:normAutofit/>
          </a:bodyPr>
          <a:lstStyle/>
          <a:p>
            <a:r>
              <a:rPr lang="de-AT">
                <a:solidFill>
                  <a:srgbClr val="EBEBEB"/>
                </a:solidFill>
              </a:rPr>
              <a:t>Warum Marimo?</a:t>
            </a:r>
          </a:p>
        </p:txBody>
      </p:sp>
      <p:sp>
        <p:nvSpPr>
          <p:cNvPr id="12"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4" name="Freeform: Shape 13">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de-AT"/>
          </a:p>
        </p:txBody>
      </p:sp>
      <p:pic>
        <p:nvPicPr>
          <p:cNvPr id="5" name="Grafik 4">
            <a:extLst>
              <a:ext uri="{FF2B5EF4-FFF2-40B4-BE49-F238E27FC236}">
                <a16:creationId xmlns:a16="http://schemas.microsoft.com/office/drawing/2014/main" id="{F54FE6E2-6D39-8546-17CC-389F8E4E8417}"/>
              </a:ext>
            </a:extLst>
          </p:cNvPr>
          <p:cNvPicPr>
            <a:picLocks noChangeAspect="1"/>
          </p:cNvPicPr>
          <p:nvPr/>
        </p:nvPicPr>
        <p:blipFill>
          <a:blip r:embed="rId3"/>
          <a:stretch>
            <a:fillRect/>
          </a:stretch>
        </p:blipFill>
        <p:spPr>
          <a:xfrm>
            <a:off x="6093992" y="1882592"/>
            <a:ext cx="5449889" cy="3092812"/>
          </a:xfrm>
          <a:prstGeom prst="rect">
            <a:avLst/>
          </a:prstGeom>
          <a:effectLst/>
        </p:spPr>
      </p:pic>
      <p:sp>
        <p:nvSpPr>
          <p:cNvPr id="16" name="Rectangle 15">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de-AT"/>
          </a:p>
        </p:txBody>
      </p:sp>
      <p:sp>
        <p:nvSpPr>
          <p:cNvPr id="3" name="Inhaltsplatzhalter 2">
            <a:extLst>
              <a:ext uri="{FF2B5EF4-FFF2-40B4-BE49-F238E27FC236}">
                <a16:creationId xmlns:a16="http://schemas.microsoft.com/office/drawing/2014/main" id="{F70999EC-81E7-E8A0-A32B-F8FAE691EFD1}"/>
              </a:ext>
            </a:extLst>
          </p:cNvPr>
          <p:cNvSpPr>
            <a:spLocks noGrp="1"/>
          </p:cNvSpPr>
          <p:nvPr>
            <p:ph idx="1"/>
          </p:nvPr>
        </p:nvSpPr>
        <p:spPr>
          <a:xfrm>
            <a:off x="648931" y="2438400"/>
            <a:ext cx="4166509" cy="3785419"/>
          </a:xfrm>
        </p:spPr>
        <p:txBody>
          <a:bodyPr>
            <a:normAutofit/>
          </a:bodyPr>
          <a:lstStyle/>
          <a:p>
            <a:pPr>
              <a:lnSpc>
                <a:spcPct val="90000"/>
              </a:lnSpc>
            </a:pPr>
            <a:r>
              <a:rPr lang="de-AT" sz="1600">
                <a:solidFill>
                  <a:srgbClr val="EBEBEB"/>
                </a:solidFill>
              </a:rPr>
              <a:t>Reaktives Notebook (Variable ändert sich &amp; wird verwendet -&gt; abhängige Zellen werden aktualisiert)</a:t>
            </a:r>
          </a:p>
          <a:p>
            <a:pPr>
              <a:lnSpc>
                <a:spcPct val="90000"/>
              </a:lnSpc>
            </a:pPr>
            <a:endParaRPr lang="de-AT" sz="1600">
              <a:solidFill>
                <a:srgbClr val="EBEBEB"/>
              </a:solidFill>
            </a:endParaRPr>
          </a:p>
          <a:p>
            <a:pPr>
              <a:lnSpc>
                <a:spcPct val="90000"/>
              </a:lnSpc>
            </a:pPr>
            <a:r>
              <a:rPr lang="de-AT" sz="1600">
                <a:solidFill>
                  <a:srgbClr val="EBEBEB"/>
                </a:solidFill>
              </a:rPr>
              <a:t>Zelle läuft nur, wenn Variablen bereitgestellt wurden</a:t>
            </a:r>
          </a:p>
          <a:p>
            <a:pPr>
              <a:lnSpc>
                <a:spcPct val="90000"/>
              </a:lnSpc>
            </a:pPr>
            <a:endParaRPr lang="de-AT" sz="1600">
              <a:solidFill>
                <a:srgbClr val="EBEBEB"/>
              </a:solidFill>
            </a:endParaRPr>
          </a:p>
          <a:p>
            <a:pPr>
              <a:lnSpc>
                <a:spcPct val="90000"/>
              </a:lnSpc>
            </a:pPr>
            <a:r>
              <a:rPr lang="de-AT" sz="1600">
                <a:solidFill>
                  <a:srgbClr val="EBEBEB"/>
                </a:solidFill>
              </a:rPr>
              <a:t>Variable in Zelle A geändert -&gt;</a:t>
            </a:r>
            <a:br>
              <a:rPr lang="de-AT" sz="1600">
                <a:solidFill>
                  <a:srgbClr val="EBEBEB"/>
                </a:solidFill>
              </a:rPr>
            </a:br>
            <a:r>
              <a:rPr lang="de-AT" sz="1600">
                <a:solidFill>
                  <a:srgbClr val="EBEBEB"/>
                </a:solidFill>
              </a:rPr>
              <a:t>alle Zellen die von Zelle A abhänge</a:t>
            </a:r>
            <a:br>
              <a:rPr lang="de-AT" sz="1600">
                <a:solidFill>
                  <a:srgbClr val="EBEBEB"/>
                </a:solidFill>
              </a:rPr>
            </a:br>
            <a:r>
              <a:rPr lang="de-AT" sz="1600">
                <a:solidFill>
                  <a:srgbClr val="EBEBEB"/>
                </a:solidFill>
              </a:rPr>
              <a:t>werden neu ausgeführt</a:t>
            </a:r>
          </a:p>
          <a:p>
            <a:pPr>
              <a:lnSpc>
                <a:spcPct val="90000"/>
              </a:lnSpc>
            </a:pPr>
            <a:endParaRPr lang="de-AT" sz="1600">
              <a:solidFill>
                <a:srgbClr val="EBEBEB"/>
              </a:solidFill>
            </a:endParaRPr>
          </a:p>
          <a:p>
            <a:pPr>
              <a:lnSpc>
                <a:spcPct val="90000"/>
              </a:lnSpc>
            </a:pPr>
            <a:r>
              <a:rPr lang="de-AT" sz="1600">
                <a:solidFill>
                  <a:srgbClr val="EBEBEB"/>
                </a:solidFill>
              </a:rPr>
              <a:t>Code 100% reines, valides Python</a:t>
            </a:r>
          </a:p>
          <a:p>
            <a:pPr>
              <a:lnSpc>
                <a:spcPct val="90000"/>
              </a:lnSpc>
            </a:pPr>
            <a:endParaRPr lang="de-AT" sz="1600">
              <a:solidFill>
                <a:srgbClr val="EBEBEB"/>
              </a:solidFill>
            </a:endParaRPr>
          </a:p>
          <a:p>
            <a:pPr>
              <a:lnSpc>
                <a:spcPct val="90000"/>
              </a:lnSpc>
            </a:pPr>
            <a:endParaRPr lang="de-AT" sz="1600">
              <a:solidFill>
                <a:srgbClr val="EBEBEB"/>
              </a:solidFill>
            </a:endParaRPr>
          </a:p>
        </p:txBody>
      </p:sp>
    </p:spTree>
    <p:extLst>
      <p:ext uri="{BB962C8B-B14F-4D97-AF65-F5344CB8AC3E}">
        <p14:creationId xmlns:p14="http://schemas.microsoft.com/office/powerpoint/2010/main" val="627625074"/>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2E0566DC-3480-C101-857B-4F44F2851FD6}"/>
              </a:ext>
            </a:extLst>
          </p:cNvPr>
          <p:cNvSpPr>
            <a:spLocks noGrp="1"/>
          </p:cNvSpPr>
          <p:nvPr>
            <p:ph type="title"/>
          </p:nvPr>
        </p:nvSpPr>
        <p:spPr>
          <a:xfrm>
            <a:off x="648931" y="629266"/>
            <a:ext cx="4166510" cy="1622321"/>
          </a:xfrm>
        </p:spPr>
        <p:txBody>
          <a:bodyPr>
            <a:normAutofit/>
          </a:bodyPr>
          <a:lstStyle/>
          <a:p>
            <a:r>
              <a:rPr lang="de-AT">
                <a:solidFill>
                  <a:srgbClr val="EBEBEB"/>
                </a:solidFill>
              </a:rPr>
              <a:t>Unser Converter</a:t>
            </a:r>
          </a:p>
        </p:txBody>
      </p:sp>
      <p:sp>
        <p:nvSpPr>
          <p:cNvPr id="12"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4" name="Freeform: Shape 13">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de-AT"/>
          </a:p>
        </p:txBody>
      </p:sp>
      <p:pic>
        <p:nvPicPr>
          <p:cNvPr id="5" name="Grafik 4">
            <a:extLst>
              <a:ext uri="{FF2B5EF4-FFF2-40B4-BE49-F238E27FC236}">
                <a16:creationId xmlns:a16="http://schemas.microsoft.com/office/drawing/2014/main" id="{60375B5B-33B8-0097-657C-B7BDEB02EA84}"/>
              </a:ext>
            </a:extLst>
          </p:cNvPr>
          <p:cNvPicPr>
            <a:picLocks noChangeAspect="1"/>
          </p:cNvPicPr>
          <p:nvPr/>
        </p:nvPicPr>
        <p:blipFill>
          <a:blip r:embed="rId2"/>
          <a:stretch>
            <a:fillRect/>
          </a:stretch>
        </p:blipFill>
        <p:spPr>
          <a:xfrm>
            <a:off x="7344847" y="647698"/>
            <a:ext cx="2948178" cy="5562601"/>
          </a:xfrm>
          <a:prstGeom prst="rect">
            <a:avLst/>
          </a:prstGeom>
          <a:effectLst/>
        </p:spPr>
      </p:pic>
      <p:sp>
        <p:nvSpPr>
          <p:cNvPr id="16" name="Rectangle 15">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de-AT"/>
          </a:p>
        </p:txBody>
      </p:sp>
      <p:sp>
        <p:nvSpPr>
          <p:cNvPr id="3" name="Inhaltsplatzhalter 2">
            <a:extLst>
              <a:ext uri="{FF2B5EF4-FFF2-40B4-BE49-F238E27FC236}">
                <a16:creationId xmlns:a16="http://schemas.microsoft.com/office/drawing/2014/main" id="{A08D5179-30F3-EE57-2DC6-596D0FF7C62B}"/>
              </a:ext>
            </a:extLst>
          </p:cNvPr>
          <p:cNvSpPr>
            <a:spLocks noGrp="1"/>
          </p:cNvSpPr>
          <p:nvPr>
            <p:ph idx="1"/>
          </p:nvPr>
        </p:nvSpPr>
        <p:spPr>
          <a:xfrm>
            <a:off x="648931" y="2438400"/>
            <a:ext cx="4166509" cy="3785419"/>
          </a:xfrm>
        </p:spPr>
        <p:txBody>
          <a:bodyPr>
            <a:normAutofit/>
          </a:bodyPr>
          <a:lstStyle/>
          <a:p>
            <a:r>
              <a:rPr lang="de-AT">
                <a:solidFill>
                  <a:srgbClr val="EBEBEB"/>
                </a:solidFill>
              </a:rPr>
              <a:t>Pipeline</a:t>
            </a:r>
          </a:p>
          <a:p>
            <a:pPr marL="0" indent="0">
              <a:buNone/>
            </a:pPr>
            <a:endParaRPr lang="de-AT">
              <a:solidFill>
                <a:srgbClr val="EBEBEB"/>
              </a:solidFill>
            </a:endParaRPr>
          </a:p>
          <a:p>
            <a:r>
              <a:rPr lang="de-AT">
                <a:solidFill>
                  <a:srgbClr val="EBEBEB"/>
                </a:solidFill>
              </a:rPr>
              <a:t>Aufgeteilt in 5 Schritte</a:t>
            </a:r>
          </a:p>
        </p:txBody>
      </p:sp>
    </p:spTree>
    <p:extLst>
      <p:ext uri="{BB962C8B-B14F-4D97-AF65-F5344CB8AC3E}">
        <p14:creationId xmlns:p14="http://schemas.microsoft.com/office/powerpoint/2010/main" val="319155181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A313AEB0-8BA9-C931-19C9-6B8DFDC5EA50}"/>
              </a:ext>
            </a:extLst>
          </p:cNvPr>
          <p:cNvSpPr>
            <a:spLocks noGrp="1"/>
          </p:cNvSpPr>
          <p:nvPr>
            <p:ph type="title"/>
          </p:nvPr>
        </p:nvSpPr>
        <p:spPr>
          <a:xfrm>
            <a:off x="648931" y="629266"/>
            <a:ext cx="4166510" cy="1622321"/>
          </a:xfrm>
        </p:spPr>
        <p:txBody>
          <a:bodyPr>
            <a:normAutofit/>
          </a:bodyPr>
          <a:lstStyle/>
          <a:p>
            <a:pPr>
              <a:lnSpc>
                <a:spcPct val="90000"/>
              </a:lnSpc>
            </a:pPr>
            <a:r>
              <a:rPr lang="de-AT" sz="3600">
                <a:solidFill>
                  <a:srgbClr val="EBEBEB"/>
                </a:solidFill>
              </a:rPr>
              <a:t>Schritt 1:</a:t>
            </a:r>
            <a:br>
              <a:rPr lang="de-AT" sz="3600">
                <a:solidFill>
                  <a:srgbClr val="EBEBEB"/>
                </a:solidFill>
              </a:rPr>
            </a:br>
            <a:r>
              <a:rPr lang="de-AT" sz="3600">
                <a:solidFill>
                  <a:srgbClr val="EBEBEB"/>
                </a:solidFill>
              </a:rPr>
              <a:t>Notebook parsing</a:t>
            </a:r>
          </a:p>
        </p:txBody>
      </p:sp>
      <p:sp>
        <p:nvSpPr>
          <p:cNvPr id="12"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4" name="Freeform: Shape 13">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de-AT"/>
          </a:p>
        </p:txBody>
      </p:sp>
      <p:pic>
        <p:nvPicPr>
          <p:cNvPr id="5" name="Grafik 4">
            <a:extLst>
              <a:ext uri="{FF2B5EF4-FFF2-40B4-BE49-F238E27FC236}">
                <a16:creationId xmlns:a16="http://schemas.microsoft.com/office/drawing/2014/main" id="{FACBEBE8-D54C-9284-0CA9-65F3C84DF84F}"/>
              </a:ext>
            </a:extLst>
          </p:cNvPr>
          <p:cNvPicPr>
            <a:picLocks noChangeAspect="1"/>
          </p:cNvPicPr>
          <p:nvPr/>
        </p:nvPicPr>
        <p:blipFill>
          <a:blip r:embed="rId2"/>
          <a:stretch>
            <a:fillRect/>
          </a:stretch>
        </p:blipFill>
        <p:spPr>
          <a:xfrm>
            <a:off x="6093992" y="806239"/>
            <a:ext cx="5449889" cy="5245518"/>
          </a:xfrm>
          <a:prstGeom prst="rect">
            <a:avLst/>
          </a:prstGeom>
          <a:effectLst/>
        </p:spPr>
      </p:pic>
      <p:sp>
        <p:nvSpPr>
          <p:cNvPr id="16" name="Rectangle 15">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de-AT"/>
          </a:p>
        </p:txBody>
      </p:sp>
      <p:sp>
        <p:nvSpPr>
          <p:cNvPr id="3" name="Inhaltsplatzhalter 2">
            <a:extLst>
              <a:ext uri="{FF2B5EF4-FFF2-40B4-BE49-F238E27FC236}">
                <a16:creationId xmlns:a16="http://schemas.microsoft.com/office/drawing/2014/main" id="{247F48E0-EB64-1202-DB4E-FF7749D4DDC2}"/>
              </a:ext>
            </a:extLst>
          </p:cNvPr>
          <p:cNvSpPr>
            <a:spLocks noGrp="1"/>
          </p:cNvSpPr>
          <p:nvPr>
            <p:ph idx="1"/>
          </p:nvPr>
        </p:nvSpPr>
        <p:spPr>
          <a:xfrm>
            <a:off x="648931" y="2438400"/>
            <a:ext cx="4166509" cy="3785419"/>
          </a:xfrm>
        </p:spPr>
        <p:txBody>
          <a:bodyPr>
            <a:normAutofit/>
          </a:bodyPr>
          <a:lstStyle/>
          <a:p>
            <a:pPr>
              <a:lnSpc>
                <a:spcPct val="90000"/>
              </a:lnSpc>
            </a:pPr>
            <a:r>
              <a:rPr lang="de-AT" sz="1600">
                <a:solidFill>
                  <a:srgbClr val="EBEBEB"/>
                </a:solidFill>
              </a:rPr>
              <a:t>Jupyter notebook wird eingelesen</a:t>
            </a:r>
          </a:p>
          <a:p>
            <a:pPr>
              <a:lnSpc>
                <a:spcPct val="90000"/>
              </a:lnSpc>
            </a:pPr>
            <a:endParaRPr lang="de-AT" sz="1600">
              <a:solidFill>
                <a:srgbClr val="EBEBEB"/>
              </a:solidFill>
            </a:endParaRPr>
          </a:p>
          <a:p>
            <a:pPr>
              <a:lnSpc>
                <a:spcPct val="90000"/>
              </a:lnSpc>
            </a:pPr>
            <a:r>
              <a:rPr lang="de-AT" sz="1600">
                <a:solidFill>
                  <a:srgbClr val="EBEBEB"/>
                </a:solidFill>
              </a:rPr>
              <a:t>Nbformat wird benötigt, um die .ipynb Datei zu öffnen</a:t>
            </a:r>
          </a:p>
          <a:p>
            <a:pPr>
              <a:lnSpc>
                <a:spcPct val="90000"/>
              </a:lnSpc>
            </a:pPr>
            <a:endParaRPr lang="de-AT" sz="1600">
              <a:solidFill>
                <a:srgbClr val="EBEBEB"/>
              </a:solidFill>
            </a:endParaRPr>
          </a:p>
          <a:p>
            <a:pPr>
              <a:lnSpc>
                <a:spcPct val="90000"/>
              </a:lnSpc>
            </a:pPr>
            <a:r>
              <a:rPr lang="de-AT" sz="1600">
                <a:solidFill>
                  <a:srgbClr val="EBEBEB"/>
                </a:solidFill>
              </a:rPr>
              <a:t>Jupyter notebook ist eigentlich eine riesige JSON-Datei</a:t>
            </a:r>
          </a:p>
          <a:p>
            <a:pPr>
              <a:lnSpc>
                <a:spcPct val="90000"/>
              </a:lnSpc>
            </a:pPr>
            <a:endParaRPr lang="de-AT" sz="1600">
              <a:solidFill>
                <a:srgbClr val="EBEBEB"/>
              </a:solidFill>
            </a:endParaRPr>
          </a:p>
          <a:p>
            <a:pPr>
              <a:lnSpc>
                <a:spcPct val="90000"/>
              </a:lnSpc>
            </a:pPr>
            <a:r>
              <a:rPr lang="de-AT" sz="1600">
                <a:solidFill>
                  <a:srgbClr val="EBEBEB"/>
                </a:solidFill>
              </a:rPr>
              <a:t>Markdown-Zelle (Text/Erklärungen) -&gt; einfach zwischenspeichern</a:t>
            </a:r>
          </a:p>
          <a:p>
            <a:pPr>
              <a:lnSpc>
                <a:spcPct val="90000"/>
              </a:lnSpc>
            </a:pPr>
            <a:endParaRPr lang="de-AT" sz="1600">
              <a:solidFill>
                <a:srgbClr val="EBEBEB"/>
              </a:solidFill>
            </a:endParaRPr>
          </a:p>
          <a:p>
            <a:pPr>
              <a:lnSpc>
                <a:spcPct val="90000"/>
              </a:lnSpc>
            </a:pPr>
            <a:r>
              <a:rPr lang="de-AT" sz="1600">
                <a:solidFill>
                  <a:srgbClr val="EBEBEB"/>
                </a:solidFill>
              </a:rPr>
              <a:t>Code-Zelle -&gt; nächste Phase</a:t>
            </a:r>
          </a:p>
        </p:txBody>
      </p:sp>
    </p:spTree>
    <p:extLst>
      <p:ext uri="{BB962C8B-B14F-4D97-AF65-F5344CB8AC3E}">
        <p14:creationId xmlns:p14="http://schemas.microsoft.com/office/powerpoint/2010/main" val="953488409"/>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4881C6E3-93A6-4FE5-4150-C831AD84F82F}"/>
              </a:ext>
            </a:extLst>
          </p:cNvPr>
          <p:cNvSpPr>
            <a:spLocks noGrp="1"/>
          </p:cNvSpPr>
          <p:nvPr>
            <p:ph type="title"/>
          </p:nvPr>
        </p:nvSpPr>
        <p:spPr>
          <a:xfrm>
            <a:off x="648931" y="629266"/>
            <a:ext cx="4166510" cy="1622321"/>
          </a:xfrm>
        </p:spPr>
        <p:txBody>
          <a:bodyPr>
            <a:normAutofit/>
          </a:bodyPr>
          <a:lstStyle/>
          <a:p>
            <a:pPr>
              <a:lnSpc>
                <a:spcPct val="90000"/>
              </a:lnSpc>
            </a:pPr>
            <a:r>
              <a:rPr lang="de-AT" sz="3600">
                <a:solidFill>
                  <a:srgbClr val="EBEBEB"/>
                </a:solidFill>
              </a:rPr>
              <a:t>Schritt 2:</a:t>
            </a:r>
            <a:br>
              <a:rPr lang="de-AT" sz="3600">
                <a:solidFill>
                  <a:srgbClr val="EBEBEB"/>
                </a:solidFill>
              </a:rPr>
            </a:br>
            <a:r>
              <a:rPr lang="de-AT" sz="3600">
                <a:solidFill>
                  <a:srgbClr val="EBEBEB"/>
                </a:solidFill>
              </a:rPr>
              <a:t>Python-Validation</a:t>
            </a:r>
          </a:p>
        </p:txBody>
      </p:sp>
      <p:sp>
        <p:nvSpPr>
          <p:cNvPr id="12"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4" name="Freeform: Shape 13">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de-AT"/>
          </a:p>
        </p:txBody>
      </p:sp>
      <p:pic>
        <p:nvPicPr>
          <p:cNvPr id="5" name="Grafik 4">
            <a:extLst>
              <a:ext uri="{FF2B5EF4-FFF2-40B4-BE49-F238E27FC236}">
                <a16:creationId xmlns:a16="http://schemas.microsoft.com/office/drawing/2014/main" id="{2027542E-B41D-ED70-2F7C-D76B3EF977A6}"/>
              </a:ext>
            </a:extLst>
          </p:cNvPr>
          <p:cNvPicPr>
            <a:picLocks noChangeAspect="1"/>
          </p:cNvPicPr>
          <p:nvPr/>
        </p:nvPicPr>
        <p:blipFill>
          <a:blip r:embed="rId2"/>
          <a:stretch>
            <a:fillRect/>
          </a:stretch>
        </p:blipFill>
        <p:spPr>
          <a:xfrm>
            <a:off x="6093992" y="2046089"/>
            <a:ext cx="5449889" cy="2765818"/>
          </a:xfrm>
          <a:prstGeom prst="rect">
            <a:avLst/>
          </a:prstGeom>
          <a:effectLst/>
        </p:spPr>
      </p:pic>
      <p:sp>
        <p:nvSpPr>
          <p:cNvPr id="16" name="Rectangle 15">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de-AT"/>
          </a:p>
        </p:txBody>
      </p:sp>
      <p:sp>
        <p:nvSpPr>
          <p:cNvPr id="3" name="Inhaltsplatzhalter 2">
            <a:extLst>
              <a:ext uri="{FF2B5EF4-FFF2-40B4-BE49-F238E27FC236}">
                <a16:creationId xmlns:a16="http://schemas.microsoft.com/office/drawing/2014/main" id="{0E67C510-BF33-E55F-C48D-42BE0FFEE112}"/>
              </a:ext>
            </a:extLst>
          </p:cNvPr>
          <p:cNvSpPr>
            <a:spLocks noGrp="1"/>
          </p:cNvSpPr>
          <p:nvPr>
            <p:ph idx="1"/>
          </p:nvPr>
        </p:nvSpPr>
        <p:spPr>
          <a:xfrm>
            <a:off x="648931" y="2438400"/>
            <a:ext cx="4166509" cy="3785419"/>
          </a:xfrm>
        </p:spPr>
        <p:txBody>
          <a:bodyPr>
            <a:normAutofit/>
          </a:bodyPr>
          <a:lstStyle/>
          <a:p>
            <a:pPr>
              <a:lnSpc>
                <a:spcPct val="90000"/>
              </a:lnSpc>
            </a:pPr>
            <a:r>
              <a:rPr lang="de-AT" sz="1700">
                <a:solidFill>
                  <a:srgbClr val="EBEBEB"/>
                </a:solidFill>
              </a:rPr>
              <a:t>Wir nutzen den eingebauten Python-parser (ast.parse)</a:t>
            </a:r>
          </a:p>
          <a:p>
            <a:pPr>
              <a:lnSpc>
                <a:spcPct val="90000"/>
              </a:lnSpc>
            </a:pPr>
            <a:endParaRPr lang="de-AT" sz="1700">
              <a:solidFill>
                <a:srgbClr val="EBEBEB"/>
              </a:solidFill>
            </a:endParaRPr>
          </a:p>
          <a:p>
            <a:pPr>
              <a:lnSpc>
                <a:spcPct val="90000"/>
              </a:lnSpc>
            </a:pPr>
            <a:r>
              <a:rPr lang="de-AT" sz="1700">
                <a:solidFill>
                  <a:srgbClr val="EBEBEB"/>
                </a:solidFill>
              </a:rPr>
              <a:t>Alles an LLM zu schicken wäre teuer</a:t>
            </a:r>
          </a:p>
          <a:p>
            <a:pPr>
              <a:lnSpc>
                <a:spcPct val="90000"/>
              </a:lnSpc>
            </a:pPr>
            <a:endParaRPr lang="de-AT" sz="1700">
              <a:solidFill>
                <a:srgbClr val="EBEBEB"/>
              </a:solidFill>
            </a:endParaRPr>
          </a:p>
          <a:p>
            <a:pPr>
              <a:lnSpc>
                <a:spcPct val="90000"/>
              </a:lnSpc>
            </a:pPr>
            <a:r>
              <a:rPr lang="de-AT" sz="1700">
                <a:solidFill>
                  <a:srgbClr val="EBEBEB"/>
                </a:solidFill>
              </a:rPr>
              <a:t>Falls code 100% korrektes Python ist -&gt; Zelle wird behalten</a:t>
            </a:r>
          </a:p>
          <a:p>
            <a:pPr>
              <a:lnSpc>
                <a:spcPct val="90000"/>
              </a:lnSpc>
            </a:pPr>
            <a:endParaRPr lang="de-AT" sz="1700">
              <a:solidFill>
                <a:srgbClr val="EBEBEB"/>
              </a:solidFill>
            </a:endParaRPr>
          </a:p>
          <a:p>
            <a:pPr>
              <a:lnSpc>
                <a:spcPct val="90000"/>
              </a:lnSpc>
            </a:pPr>
            <a:r>
              <a:rPr lang="de-AT" sz="1700">
                <a:solidFill>
                  <a:srgbClr val="EBEBEB"/>
                </a:solidFill>
              </a:rPr>
              <a:t>Falls Jupyter-Magic (zb !ls) -&gt; Python wirft Syntax-Error</a:t>
            </a:r>
          </a:p>
        </p:txBody>
      </p:sp>
    </p:spTree>
    <p:extLst>
      <p:ext uri="{BB962C8B-B14F-4D97-AF65-F5344CB8AC3E}">
        <p14:creationId xmlns:p14="http://schemas.microsoft.com/office/powerpoint/2010/main" val="4268250009"/>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2BE047B5-795C-E0A7-C247-59137A0BA02D}"/>
              </a:ext>
            </a:extLst>
          </p:cNvPr>
          <p:cNvSpPr>
            <a:spLocks noGrp="1"/>
          </p:cNvSpPr>
          <p:nvPr>
            <p:ph type="title"/>
          </p:nvPr>
        </p:nvSpPr>
        <p:spPr>
          <a:xfrm>
            <a:off x="648931" y="629266"/>
            <a:ext cx="4166510" cy="1622321"/>
          </a:xfrm>
        </p:spPr>
        <p:txBody>
          <a:bodyPr>
            <a:normAutofit/>
          </a:bodyPr>
          <a:lstStyle/>
          <a:p>
            <a:pPr>
              <a:lnSpc>
                <a:spcPct val="90000"/>
              </a:lnSpc>
            </a:pPr>
            <a:r>
              <a:rPr lang="de-AT" sz="3600">
                <a:solidFill>
                  <a:srgbClr val="EBEBEB"/>
                </a:solidFill>
              </a:rPr>
              <a:t>Schritt 3:</a:t>
            </a:r>
            <a:br>
              <a:rPr lang="de-AT" sz="3600">
                <a:solidFill>
                  <a:srgbClr val="EBEBEB"/>
                </a:solidFill>
              </a:rPr>
            </a:br>
            <a:r>
              <a:rPr lang="de-AT" sz="3600">
                <a:solidFill>
                  <a:srgbClr val="EBEBEB"/>
                </a:solidFill>
              </a:rPr>
              <a:t>Normalisierung mit LLM</a:t>
            </a:r>
          </a:p>
        </p:txBody>
      </p:sp>
      <p:sp>
        <p:nvSpPr>
          <p:cNvPr id="12"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4" name="Freeform: Shape 13">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de-AT"/>
          </a:p>
        </p:txBody>
      </p:sp>
      <p:pic>
        <p:nvPicPr>
          <p:cNvPr id="5" name="Grafik 4">
            <a:extLst>
              <a:ext uri="{FF2B5EF4-FFF2-40B4-BE49-F238E27FC236}">
                <a16:creationId xmlns:a16="http://schemas.microsoft.com/office/drawing/2014/main" id="{E3124DEF-16A4-F816-E218-440D749E32CB}"/>
              </a:ext>
            </a:extLst>
          </p:cNvPr>
          <p:cNvPicPr>
            <a:picLocks noChangeAspect="1"/>
          </p:cNvPicPr>
          <p:nvPr/>
        </p:nvPicPr>
        <p:blipFill>
          <a:blip r:embed="rId2"/>
          <a:stretch>
            <a:fillRect/>
          </a:stretch>
        </p:blipFill>
        <p:spPr>
          <a:xfrm>
            <a:off x="6093992" y="1491374"/>
            <a:ext cx="5449889" cy="3875249"/>
          </a:xfrm>
          <a:prstGeom prst="rect">
            <a:avLst/>
          </a:prstGeom>
          <a:effectLst/>
        </p:spPr>
      </p:pic>
      <p:sp>
        <p:nvSpPr>
          <p:cNvPr id="16" name="Rectangle 15">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de-AT"/>
          </a:p>
        </p:txBody>
      </p:sp>
      <p:sp>
        <p:nvSpPr>
          <p:cNvPr id="3" name="Inhaltsplatzhalter 2">
            <a:extLst>
              <a:ext uri="{FF2B5EF4-FFF2-40B4-BE49-F238E27FC236}">
                <a16:creationId xmlns:a16="http://schemas.microsoft.com/office/drawing/2014/main" id="{2636C648-60A7-2640-EF57-2178936F05AE}"/>
              </a:ext>
            </a:extLst>
          </p:cNvPr>
          <p:cNvSpPr>
            <a:spLocks noGrp="1"/>
          </p:cNvSpPr>
          <p:nvPr>
            <p:ph idx="1"/>
          </p:nvPr>
        </p:nvSpPr>
        <p:spPr>
          <a:xfrm>
            <a:off x="648931" y="2438400"/>
            <a:ext cx="4166509" cy="3785419"/>
          </a:xfrm>
        </p:spPr>
        <p:txBody>
          <a:bodyPr>
            <a:normAutofit/>
          </a:bodyPr>
          <a:lstStyle/>
          <a:p>
            <a:pPr>
              <a:lnSpc>
                <a:spcPct val="90000"/>
              </a:lnSpc>
            </a:pPr>
            <a:r>
              <a:rPr lang="de-AT" sz="1400">
                <a:solidFill>
                  <a:srgbClr val="EBEBEB"/>
                </a:solidFill>
              </a:rPr>
              <a:t>Zellen die einen Error geworfen haben, werden an die Gemini API geschickt</a:t>
            </a:r>
          </a:p>
          <a:p>
            <a:pPr>
              <a:lnSpc>
                <a:spcPct val="90000"/>
              </a:lnSpc>
            </a:pPr>
            <a:endParaRPr lang="de-AT" sz="1400">
              <a:solidFill>
                <a:srgbClr val="EBEBEB"/>
              </a:solidFill>
            </a:endParaRPr>
          </a:p>
          <a:p>
            <a:pPr>
              <a:lnSpc>
                <a:spcPct val="90000"/>
              </a:lnSpc>
            </a:pPr>
            <a:r>
              <a:rPr lang="de-AT" sz="1400">
                <a:solidFill>
                  <a:srgbClr val="EBEBEB"/>
                </a:solidFill>
              </a:rPr>
              <a:t>Prompt wird an LLM geschickt</a:t>
            </a:r>
          </a:p>
          <a:p>
            <a:pPr>
              <a:lnSpc>
                <a:spcPct val="90000"/>
              </a:lnSpc>
            </a:pPr>
            <a:endParaRPr lang="de-AT" sz="1400">
              <a:solidFill>
                <a:srgbClr val="EBEBEB"/>
              </a:solidFill>
            </a:endParaRPr>
          </a:p>
          <a:p>
            <a:pPr>
              <a:lnSpc>
                <a:spcPct val="90000"/>
              </a:lnSpc>
            </a:pPr>
            <a:r>
              <a:rPr lang="de-AT" sz="1400">
                <a:solidFill>
                  <a:srgbClr val="EBEBEB"/>
                </a:solidFill>
              </a:rPr>
              <a:t>LLM antwortet mit sauberem, validen Python Code</a:t>
            </a:r>
          </a:p>
          <a:p>
            <a:pPr>
              <a:lnSpc>
                <a:spcPct val="90000"/>
              </a:lnSpc>
            </a:pPr>
            <a:endParaRPr lang="de-AT" sz="1400">
              <a:solidFill>
                <a:srgbClr val="EBEBEB"/>
              </a:solidFill>
            </a:endParaRPr>
          </a:p>
          <a:p>
            <a:pPr>
              <a:lnSpc>
                <a:spcPct val="90000"/>
              </a:lnSpc>
            </a:pPr>
            <a:r>
              <a:rPr lang="de-AT" sz="1400">
                <a:solidFill>
                  <a:srgbClr val="EBEBEB"/>
                </a:solidFill>
              </a:rPr>
              <a:t>Risiko: LLM kann es manchmal nicht korrekt umwandeln.</a:t>
            </a:r>
          </a:p>
          <a:p>
            <a:pPr>
              <a:lnSpc>
                <a:spcPct val="90000"/>
              </a:lnSpc>
            </a:pPr>
            <a:endParaRPr lang="de-AT" sz="1400">
              <a:solidFill>
                <a:srgbClr val="EBEBEB"/>
              </a:solidFill>
            </a:endParaRPr>
          </a:p>
          <a:p>
            <a:pPr>
              <a:lnSpc>
                <a:spcPct val="90000"/>
              </a:lnSpc>
            </a:pPr>
            <a:r>
              <a:rPr lang="de-AT" sz="1400">
                <a:solidFill>
                  <a:srgbClr val="EBEBEB"/>
                </a:solidFill>
              </a:rPr>
              <a:t>Deswegen: Code wird nochmals durch AST-Parser geschickt, um es zu validieren</a:t>
            </a:r>
          </a:p>
        </p:txBody>
      </p:sp>
    </p:spTree>
    <p:extLst>
      <p:ext uri="{BB962C8B-B14F-4D97-AF65-F5344CB8AC3E}">
        <p14:creationId xmlns:p14="http://schemas.microsoft.com/office/powerpoint/2010/main" val="4153394504"/>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927E6541-A068-11A3-DB97-ABBCA025975C}"/>
              </a:ext>
            </a:extLst>
          </p:cNvPr>
          <p:cNvSpPr>
            <a:spLocks noGrp="1"/>
          </p:cNvSpPr>
          <p:nvPr>
            <p:ph type="title"/>
          </p:nvPr>
        </p:nvSpPr>
        <p:spPr>
          <a:xfrm>
            <a:off x="648931" y="629266"/>
            <a:ext cx="4166510" cy="1622321"/>
          </a:xfrm>
        </p:spPr>
        <p:txBody>
          <a:bodyPr>
            <a:normAutofit/>
          </a:bodyPr>
          <a:lstStyle/>
          <a:p>
            <a:pPr>
              <a:lnSpc>
                <a:spcPct val="90000"/>
              </a:lnSpc>
            </a:pPr>
            <a:r>
              <a:rPr lang="de-AT" sz="3600">
                <a:solidFill>
                  <a:srgbClr val="EBEBEB"/>
                </a:solidFill>
              </a:rPr>
              <a:t>4. Schritt</a:t>
            </a:r>
            <a:br>
              <a:rPr lang="de-AT" sz="3600">
                <a:solidFill>
                  <a:srgbClr val="EBEBEB"/>
                </a:solidFill>
              </a:rPr>
            </a:br>
            <a:r>
              <a:rPr lang="de-AT" sz="3600">
                <a:solidFill>
                  <a:srgbClr val="EBEBEB"/>
                </a:solidFill>
              </a:rPr>
              <a:t>Dependency Graph</a:t>
            </a:r>
          </a:p>
        </p:txBody>
      </p:sp>
      <p:sp>
        <p:nvSpPr>
          <p:cNvPr id="12"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4" name="Freeform: Shape 13">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de-AT"/>
          </a:p>
        </p:txBody>
      </p:sp>
      <p:pic>
        <p:nvPicPr>
          <p:cNvPr id="5" name="Grafik 4">
            <a:extLst>
              <a:ext uri="{FF2B5EF4-FFF2-40B4-BE49-F238E27FC236}">
                <a16:creationId xmlns:a16="http://schemas.microsoft.com/office/drawing/2014/main" id="{C765B4AA-7DEC-8974-3692-0F7C2750D191}"/>
              </a:ext>
            </a:extLst>
          </p:cNvPr>
          <p:cNvPicPr>
            <a:picLocks noChangeAspect="1"/>
          </p:cNvPicPr>
          <p:nvPr/>
        </p:nvPicPr>
        <p:blipFill>
          <a:blip r:embed="rId2"/>
          <a:stretch>
            <a:fillRect/>
          </a:stretch>
        </p:blipFill>
        <p:spPr>
          <a:xfrm>
            <a:off x="6093992" y="983361"/>
            <a:ext cx="5449889" cy="4891274"/>
          </a:xfrm>
          <a:prstGeom prst="rect">
            <a:avLst/>
          </a:prstGeom>
          <a:effectLst/>
        </p:spPr>
      </p:pic>
      <p:sp>
        <p:nvSpPr>
          <p:cNvPr id="16" name="Rectangle 15">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de-AT"/>
          </a:p>
        </p:txBody>
      </p:sp>
      <p:sp>
        <p:nvSpPr>
          <p:cNvPr id="3" name="Inhaltsplatzhalter 2">
            <a:extLst>
              <a:ext uri="{FF2B5EF4-FFF2-40B4-BE49-F238E27FC236}">
                <a16:creationId xmlns:a16="http://schemas.microsoft.com/office/drawing/2014/main" id="{4087EEC5-8F9A-DBAA-542D-76298ABCB0B2}"/>
              </a:ext>
            </a:extLst>
          </p:cNvPr>
          <p:cNvSpPr>
            <a:spLocks noGrp="1"/>
          </p:cNvSpPr>
          <p:nvPr>
            <p:ph idx="1"/>
          </p:nvPr>
        </p:nvSpPr>
        <p:spPr>
          <a:xfrm>
            <a:off x="648931" y="2438400"/>
            <a:ext cx="4166509" cy="3785419"/>
          </a:xfrm>
        </p:spPr>
        <p:txBody>
          <a:bodyPr>
            <a:normAutofit/>
          </a:bodyPr>
          <a:lstStyle/>
          <a:p>
            <a:pPr>
              <a:lnSpc>
                <a:spcPct val="90000"/>
              </a:lnSpc>
            </a:pPr>
            <a:r>
              <a:rPr lang="de-AT" sz="1300">
                <a:solidFill>
                  <a:srgbClr val="EBEBEB"/>
                </a:solidFill>
              </a:rPr>
              <a:t>Anspruchvollster Teil</a:t>
            </a:r>
          </a:p>
          <a:p>
            <a:pPr>
              <a:lnSpc>
                <a:spcPct val="90000"/>
              </a:lnSpc>
            </a:pPr>
            <a:endParaRPr lang="de-AT" sz="1300">
              <a:solidFill>
                <a:srgbClr val="EBEBEB"/>
              </a:solidFill>
            </a:endParaRPr>
          </a:p>
          <a:p>
            <a:pPr>
              <a:lnSpc>
                <a:spcPct val="90000"/>
              </a:lnSpc>
            </a:pPr>
            <a:r>
              <a:rPr lang="de-AT" sz="1300">
                <a:solidFill>
                  <a:srgbClr val="EBEBEB"/>
                </a:solidFill>
              </a:rPr>
              <a:t>Skript liest sauberen Python-Code und analysiert wieder mit AST-Funktionen</a:t>
            </a:r>
          </a:p>
          <a:p>
            <a:pPr>
              <a:lnSpc>
                <a:spcPct val="90000"/>
              </a:lnSpc>
            </a:pPr>
            <a:endParaRPr lang="de-AT" sz="1300">
              <a:solidFill>
                <a:srgbClr val="EBEBEB"/>
              </a:solidFill>
            </a:endParaRPr>
          </a:p>
          <a:p>
            <a:pPr>
              <a:lnSpc>
                <a:spcPct val="90000"/>
              </a:lnSpc>
            </a:pPr>
            <a:r>
              <a:rPr lang="de-AT" sz="1300">
                <a:solidFill>
                  <a:srgbClr val="EBEBEB"/>
                </a:solidFill>
              </a:rPr>
              <a:t>Was produziert Zelle? (Variablen, Funktionen, Klassen, …)</a:t>
            </a:r>
          </a:p>
          <a:p>
            <a:pPr>
              <a:lnSpc>
                <a:spcPct val="90000"/>
              </a:lnSpc>
            </a:pPr>
            <a:endParaRPr lang="de-AT" sz="1300">
              <a:solidFill>
                <a:srgbClr val="EBEBEB"/>
              </a:solidFill>
            </a:endParaRPr>
          </a:p>
          <a:p>
            <a:pPr>
              <a:lnSpc>
                <a:spcPct val="90000"/>
              </a:lnSpc>
            </a:pPr>
            <a:r>
              <a:rPr lang="de-AT" sz="1300">
                <a:solidFill>
                  <a:srgbClr val="EBEBEB"/>
                </a:solidFill>
              </a:rPr>
              <a:t>Was konsumiert die Zelle? (was wird hier aufgerufen/gelesen?)</a:t>
            </a:r>
          </a:p>
          <a:p>
            <a:pPr>
              <a:lnSpc>
                <a:spcPct val="90000"/>
              </a:lnSpc>
            </a:pPr>
            <a:endParaRPr lang="de-AT" sz="1300">
              <a:solidFill>
                <a:srgbClr val="EBEBEB"/>
              </a:solidFill>
            </a:endParaRPr>
          </a:p>
          <a:p>
            <a:pPr>
              <a:lnSpc>
                <a:spcPct val="90000"/>
              </a:lnSpc>
            </a:pPr>
            <a:r>
              <a:rPr lang="de-AT" sz="1300">
                <a:solidFill>
                  <a:srgbClr val="EBEBEB"/>
                </a:solidFill>
              </a:rPr>
              <a:t>Mit Hilfe dieser Informationen -&gt; networkx baut gerichteten Graphen, der dependencies vorgibt</a:t>
            </a:r>
          </a:p>
        </p:txBody>
      </p:sp>
    </p:spTree>
    <p:extLst>
      <p:ext uri="{BB962C8B-B14F-4D97-AF65-F5344CB8AC3E}">
        <p14:creationId xmlns:p14="http://schemas.microsoft.com/office/powerpoint/2010/main" val="1837526026"/>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A0D73A0E-9B97-A886-E556-DD0A53B68B3A}"/>
              </a:ext>
            </a:extLst>
          </p:cNvPr>
          <p:cNvSpPr>
            <a:spLocks noGrp="1"/>
          </p:cNvSpPr>
          <p:nvPr>
            <p:ph type="title"/>
          </p:nvPr>
        </p:nvSpPr>
        <p:spPr>
          <a:xfrm>
            <a:off x="648931" y="629266"/>
            <a:ext cx="4166510" cy="1622321"/>
          </a:xfrm>
        </p:spPr>
        <p:txBody>
          <a:bodyPr>
            <a:normAutofit/>
          </a:bodyPr>
          <a:lstStyle/>
          <a:p>
            <a:pPr>
              <a:lnSpc>
                <a:spcPct val="90000"/>
              </a:lnSpc>
            </a:pPr>
            <a:r>
              <a:rPr lang="de-AT" sz="3600">
                <a:solidFill>
                  <a:srgbClr val="EBEBEB"/>
                </a:solidFill>
              </a:rPr>
              <a:t>5. Schritt</a:t>
            </a:r>
            <a:br>
              <a:rPr lang="de-AT" sz="3600">
                <a:solidFill>
                  <a:srgbClr val="EBEBEB"/>
                </a:solidFill>
              </a:rPr>
            </a:br>
            <a:r>
              <a:rPr lang="de-AT" sz="3600">
                <a:solidFill>
                  <a:srgbClr val="EBEBEB"/>
                </a:solidFill>
              </a:rPr>
              <a:t>Marimo Generierung</a:t>
            </a:r>
          </a:p>
        </p:txBody>
      </p:sp>
      <p:sp>
        <p:nvSpPr>
          <p:cNvPr id="12"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4" name="Freeform: Shape 13">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de-AT"/>
          </a:p>
        </p:txBody>
      </p:sp>
      <p:pic>
        <p:nvPicPr>
          <p:cNvPr id="5" name="Grafik 4">
            <a:extLst>
              <a:ext uri="{FF2B5EF4-FFF2-40B4-BE49-F238E27FC236}">
                <a16:creationId xmlns:a16="http://schemas.microsoft.com/office/drawing/2014/main" id="{758A5EBA-8287-A619-6AF0-4545C0C277B6}"/>
              </a:ext>
            </a:extLst>
          </p:cNvPr>
          <p:cNvPicPr>
            <a:picLocks noChangeAspect="1"/>
          </p:cNvPicPr>
          <p:nvPr/>
        </p:nvPicPr>
        <p:blipFill>
          <a:blip r:embed="rId2"/>
          <a:stretch>
            <a:fillRect/>
          </a:stretch>
        </p:blipFill>
        <p:spPr>
          <a:xfrm>
            <a:off x="6093992" y="717679"/>
            <a:ext cx="5449889" cy="5422639"/>
          </a:xfrm>
          <a:prstGeom prst="rect">
            <a:avLst/>
          </a:prstGeom>
          <a:effectLst/>
        </p:spPr>
      </p:pic>
      <p:sp>
        <p:nvSpPr>
          <p:cNvPr id="16" name="Rectangle 15">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de-AT"/>
          </a:p>
        </p:txBody>
      </p:sp>
      <p:sp>
        <p:nvSpPr>
          <p:cNvPr id="3" name="Inhaltsplatzhalter 2">
            <a:extLst>
              <a:ext uri="{FF2B5EF4-FFF2-40B4-BE49-F238E27FC236}">
                <a16:creationId xmlns:a16="http://schemas.microsoft.com/office/drawing/2014/main" id="{2391B9E1-A1F3-72C9-5CA8-98D0E423EE86}"/>
              </a:ext>
            </a:extLst>
          </p:cNvPr>
          <p:cNvSpPr>
            <a:spLocks noGrp="1"/>
          </p:cNvSpPr>
          <p:nvPr>
            <p:ph idx="1"/>
          </p:nvPr>
        </p:nvSpPr>
        <p:spPr>
          <a:xfrm>
            <a:off x="648931" y="2438400"/>
            <a:ext cx="4166509" cy="3785419"/>
          </a:xfrm>
        </p:spPr>
        <p:txBody>
          <a:bodyPr>
            <a:normAutofit/>
          </a:bodyPr>
          <a:lstStyle/>
          <a:p>
            <a:pPr>
              <a:lnSpc>
                <a:spcPct val="90000"/>
              </a:lnSpc>
            </a:pPr>
            <a:r>
              <a:rPr lang="de-AT" sz="1900">
                <a:solidFill>
                  <a:srgbClr val="EBEBEB"/>
                </a:solidFill>
              </a:rPr>
              <a:t>Normalisierter Code, Liste der Imports und Graph wird an Gemini geschickt</a:t>
            </a:r>
          </a:p>
          <a:p>
            <a:pPr>
              <a:lnSpc>
                <a:spcPct val="90000"/>
              </a:lnSpc>
            </a:pPr>
            <a:endParaRPr lang="de-AT" sz="1900">
              <a:solidFill>
                <a:srgbClr val="EBEBEB"/>
              </a:solidFill>
            </a:endParaRPr>
          </a:p>
          <a:p>
            <a:pPr>
              <a:lnSpc>
                <a:spcPct val="90000"/>
              </a:lnSpc>
            </a:pPr>
            <a:r>
              <a:rPr lang="de-AT" sz="1900">
                <a:solidFill>
                  <a:srgbClr val="EBEBEB"/>
                </a:solidFill>
              </a:rPr>
              <a:t>KI transformiert Einzelteile in spezifisches Marimo-Format (jede Zelle eine eigene Python-Funktion mit dem Decorator @app.cell)</a:t>
            </a:r>
          </a:p>
          <a:p>
            <a:pPr>
              <a:lnSpc>
                <a:spcPct val="90000"/>
              </a:lnSpc>
            </a:pPr>
            <a:endParaRPr lang="de-AT" sz="1900">
              <a:solidFill>
                <a:srgbClr val="EBEBEB"/>
              </a:solidFill>
            </a:endParaRPr>
          </a:p>
          <a:p>
            <a:pPr>
              <a:lnSpc>
                <a:spcPct val="90000"/>
              </a:lnSpc>
            </a:pPr>
            <a:r>
              <a:rPr lang="de-AT" sz="1900">
                <a:solidFill>
                  <a:srgbClr val="EBEBEB"/>
                </a:solidFill>
              </a:rPr>
              <a:t>LLM schreibt fertiges Marimo-Skript</a:t>
            </a:r>
          </a:p>
        </p:txBody>
      </p:sp>
    </p:spTree>
    <p:extLst>
      <p:ext uri="{BB962C8B-B14F-4D97-AF65-F5344CB8AC3E}">
        <p14:creationId xmlns:p14="http://schemas.microsoft.com/office/powerpoint/2010/main" val="2726804144"/>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TM02836342[[fn=Ion]]</Template>
  <TotalTime>0</TotalTime>
  <Words>412</Words>
  <Application>Microsoft Office PowerPoint</Application>
  <PresentationFormat>Breitbild</PresentationFormat>
  <Paragraphs>70</Paragraphs>
  <Slides>9</Slides>
  <Notes>2</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9</vt:i4>
      </vt:variant>
    </vt:vector>
  </HeadingPairs>
  <TitlesOfParts>
    <vt:vector size="13" baseType="lpstr">
      <vt:lpstr>Aptos</vt:lpstr>
      <vt:lpstr>Century Gothic</vt:lpstr>
      <vt:lpstr>Wingdings 3</vt:lpstr>
      <vt:lpstr>Ion</vt:lpstr>
      <vt:lpstr>Jupyter2Marimo Converter</vt:lpstr>
      <vt:lpstr>Motivation</vt:lpstr>
      <vt:lpstr>Warum Marimo?</vt:lpstr>
      <vt:lpstr>Unser Converter</vt:lpstr>
      <vt:lpstr>Schritt 1: Notebook parsing</vt:lpstr>
      <vt:lpstr>Schritt 2: Python-Validation</vt:lpstr>
      <vt:lpstr>Schritt 3: Normalisierung mit LLM</vt:lpstr>
      <vt:lpstr>4. Schritt Dependency Graph</vt:lpstr>
      <vt:lpstr>5. Schritt Marimo Generierung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Schimani Jennifer - s2410307035</dc:creator>
  <cp:lastModifiedBy>Schimani Jennifer - s2410307035</cp:lastModifiedBy>
  <cp:revision>47</cp:revision>
  <dcterms:created xsi:type="dcterms:W3CDTF">2026-06-19T13:34:02Z</dcterms:created>
  <dcterms:modified xsi:type="dcterms:W3CDTF">2026-06-20T11:34:26Z</dcterms:modified>
</cp:coreProperties>
</file>